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TT Chocolates Ultra-Bold" charset="1" panose="02000903040000020003"/>
      <p:regular r:id="rId21"/>
    </p:embeddedFont>
    <p:embeddedFont>
      <p:font typeface="TT Chocolates" charset="1" panose="02000503020000020003"/>
      <p:regular r:id="rId22"/>
    </p:embeddedFont>
    <p:embeddedFont>
      <p:font typeface="TT Chocolates Bold" charset="1" panose="02000803020000020003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9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9.png" Type="http://schemas.openxmlformats.org/officeDocument/2006/relationships/image"/><Relationship Id="rId13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4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16" Target="../media/image4.png" Type="http://schemas.openxmlformats.org/officeDocument/2006/relationships/image"/><Relationship Id="rId2" Target="../media/image4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4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55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9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4.png" Type="http://schemas.openxmlformats.org/officeDocument/2006/relationships/image"/><Relationship Id="rId5" Target="../media/image66.pn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-5065956" y="-1570060"/>
            <a:ext cx="14817002" cy="11207042"/>
          </a:xfrm>
          <a:custGeom>
            <a:avLst/>
            <a:gdLst/>
            <a:ahLst/>
            <a:cxnLst/>
            <a:rect r="r" b="b" t="t" l="l"/>
            <a:pathLst>
              <a:path h="11207042" w="1481700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593267" y="777953"/>
            <a:ext cx="4412604" cy="8731095"/>
            <a:chOff x="0" y="0"/>
            <a:chExt cx="2620010" cy="5184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628" t="0" r="-112628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841888" y="3426474"/>
            <a:ext cx="1915362" cy="1915362"/>
          </a:xfrm>
          <a:custGeom>
            <a:avLst/>
            <a:gdLst/>
            <a:ahLst/>
            <a:cxnLst/>
            <a:rect r="r" b="b" t="t" l="l"/>
            <a:pathLst>
              <a:path h="1915362" w="1915362">
                <a:moveTo>
                  <a:pt x="0" y="0"/>
                </a:moveTo>
                <a:lnTo>
                  <a:pt x="1915362" y="0"/>
                </a:lnTo>
                <a:lnTo>
                  <a:pt x="1915362" y="1915362"/>
                </a:lnTo>
                <a:lnTo>
                  <a:pt x="0" y="191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197042" y="777953"/>
            <a:ext cx="2028370" cy="498641"/>
          </a:xfrm>
          <a:custGeom>
            <a:avLst/>
            <a:gdLst/>
            <a:ahLst/>
            <a:cxnLst/>
            <a:rect r="r" b="b" t="t" l="l"/>
            <a:pathLst>
              <a:path h="498641" w="2028370">
                <a:moveTo>
                  <a:pt x="0" y="0"/>
                </a:moveTo>
                <a:lnTo>
                  <a:pt x="2028371" y="0"/>
                </a:lnTo>
                <a:lnTo>
                  <a:pt x="2028371" y="498641"/>
                </a:lnTo>
                <a:lnTo>
                  <a:pt x="0" y="498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393952" y="9331729"/>
            <a:ext cx="4811235" cy="354637"/>
            <a:chOff x="0" y="0"/>
            <a:chExt cx="1267156" cy="934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7156" cy="93402"/>
            </a:xfrm>
            <a:custGeom>
              <a:avLst/>
              <a:gdLst/>
              <a:ahLst/>
              <a:cxnLst/>
              <a:rect r="r" b="b" t="t" l="l"/>
              <a:pathLst>
                <a:path h="93402" w="1267156">
                  <a:moveTo>
                    <a:pt x="633578" y="0"/>
                  </a:moveTo>
                  <a:cubicBezTo>
                    <a:pt x="283663" y="0"/>
                    <a:pt x="0" y="20909"/>
                    <a:pt x="0" y="46701"/>
                  </a:cubicBezTo>
                  <a:cubicBezTo>
                    <a:pt x="0" y="72493"/>
                    <a:pt x="283663" y="93402"/>
                    <a:pt x="633578" y="93402"/>
                  </a:cubicBezTo>
                  <a:cubicBezTo>
                    <a:pt x="983494" y="93402"/>
                    <a:pt x="1267156" y="72493"/>
                    <a:pt x="1267156" y="46701"/>
                  </a:cubicBezTo>
                  <a:cubicBezTo>
                    <a:pt x="1267156" y="20909"/>
                    <a:pt x="983494" y="0"/>
                    <a:pt x="633578" y="0"/>
                  </a:cubicBezTo>
                  <a:close/>
                </a:path>
              </a:pathLst>
            </a:custGeom>
            <a:solidFill>
              <a:srgbClr val="000000">
                <a:alpha val="2274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8796" y="-29344"/>
              <a:ext cx="1029565" cy="113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879988" y="5029200"/>
            <a:ext cx="2342437" cy="72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3"/>
              </a:lnSpc>
              <a:spcBef>
                <a:spcPct val="0"/>
              </a:spcBef>
            </a:pPr>
            <a:r>
              <a:rPr lang="en-US" b="true" sz="4023">
                <a:solidFill>
                  <a:srgbClr val="0A3D62"/>
                </a:solidFill>
                <a:latin typeface="Poppins Bold"/>
                <a:ea typeface="Poppins Bold"/>
                <a:cs typeface="Poppins Bold"/>
                <a:sym typeface="Poppins Bold"/>
              </a:rPr>
              <a:t>GLUCO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79988" y="5452610"/>
            <a:ext cx="2779297" cy="72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3"/>
              </a:lnSpc>
              <a:spcBef>
                <a:spcPct val="0"/>
              </a:spcBef>
            </a:pPr>
            <a:r>
              <a:rPr lang="en-US" b="true" sz="4023">
                <a:solidFill>
                  <a:srgbClr val="00A6A6"/>
                </a:solidFill>
                <a:latin typeface="Poppins Bold"/>
                <a:ea typeface="Poppins Bold"/>
                <a:cs typeface="Poppins Bold"/>
                <a:sym typeface="Poppins Bold"/>
              </a:rPr>
              <a:t>GUARD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14497" y="2701208"/>
            <a:ext cx="9029411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10"/>
              </a:lnSpc>
            </a:pPr>
            <a:r>
              <a:rPr lang="en-US" b="true" sz="9000">
                <a:solidFill>
                  <a:srgbClr val="000000"/>
                </a:solidFill>
                <a:latin typeface="TT Chocolates Ultra-Bold"/>
                <a:ea typeface="TT Chocolates Ultra-Bold"/>
                <a:cs typeface="TT Chocolates Ultra-Bold"/>
                <a:sym typeface="TT Chocolates Ultra-Bold"/>
              </a:rPr>
              <a:t>PROYECTO “GLUCOGUARD”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14497" y="5255813"/>
            <a:ext cx="9029411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9"/>
              </a:lnSpc>
            </a:pPr>
            <a:r>
              <a:rPr lang="en-US" sz="3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PRESENTACIÓN FINAL CAPSTONE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889" y="6846902"/>
            <a:ext cx="9029411" cy="168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3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INTEGRANTES:</a:t>
            </a:r>
          </a:p>
          <a:p>
            <a:pPr algn="l" marL="863599" indent="-431800" lvl="1">
              <a:lnSpc>
                <a:spcPts val="43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STEFFI RYSER</a:t>
            </a:r>
          </a:p>
          <a:p>
            <a:pPr algn="l" marL="863599" indent="-431800" lvl="1">
              <a:lnSpc>
                <a:spcPts val="43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Mariano Leal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3720" y="2698014"/>
            <a:ext cx="630412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b="true" sz="50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PROBLEMA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400912"/>
            <a:ext cx="6833250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Los pacientes enfrentan problemas como: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Pérdida de datos al desconectarse los sensores.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Imposibilidad de registrar glucosa manual mientras el sensor está apagado.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Falta de alertas tempranas y seguimiento en tiempo real.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53112"/>
            <a:ext cx="6714168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“</a:t>
            </a:r>
            <a:r>
              <a:rPr lang="en-US" sz="24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537 millones </a:t>
            </a: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 adultos tienen diabetes en </a:t>
            </a:r>
            <a:r>
              <a:rPr lang="en-US" sz="24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2023</a:t>
            </a: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(OMS) y se proyecta </a:t>
            </a:r>
            <a:r>
              <a:rPr lang="en-US" sz="24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643 millones en 2030</a:t>
            </a: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”</a:t>
            </a:r>
          </a:p>
          <a:p>
            <a:pPr algn="ctr">
              <a:lnSpc>
                <a:spcPts val="2879"/>
              </a:lnSpc>
            </a:pPr>
          </a:p>
          <a:p>
            <a:pPr algn="ctr">
              <a:lnSpc>
                <a:spcPts val="287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3206317" y="-1312264"/>
            <a:ext cx="17462686" cy="13208140"/>
          </a:xfrm>
          <a:custGeom>
            <a:avLst/>
            <a:gdLst/>
            <a:ahLst/>
            <a:cxnLst/>
            <a:rect r="r" b="b" t="t" l="l"/>
            <a:pathLst>
              <a:path h="13208140" w="17462686">
                <a:moveTo>
                  <a:pt x="0" y="0"/>
                </a:moveTo>
                <a:lnTo>
                  <a:pt x="17462686" y="0"/>
                </a:lnTo>
                <a:lnTo>
                  <a:pt x="17462686" y="13208141"/>
                </a:lnTo>
                <a:lnTo>
                  <a:pt x="0" y="13208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76420" y="2100957"/>
            <a:ext cx="9246301" cy="6381699"/>
          </a:xfrm>
          <a:custGeom>
            <a:avLst/>
            <a:gdLst/>
            <a:ahLst/>
            <a:cxnLst/>
            <a:rect r="r" b="b" t="t" l="l"/>
            <a:pathLst>
              <a:path h="6381699" w="9246301">
                <a:moveTo>
                  <a:pt x="0" y="0"/>
                </a:moveTo>
                <a:lnTo>
                  <a:pt x="9246301" y="0"/>
                </a:lnTo>
                <a:lnTo>
                  <a:pt x="9246301" y="6381699"/>
                </a:lnTo>
                <a:lnTo>
                  <a:pt x="0" y="638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3" t="-4003" r="-996" b="-371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1429709" cy="41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31407">
            <a:off x="-1570358" y="3880093"/>
            <a:ext cx="9865087" cy="8376356"/>
          </a:xfrm>
          <a:custGeom>
            <a:avLst/>
            <a:gdLst/>
            <a:ahLst/>
            <a:cxnLst/>
            <a:rect r="r" b="b" t="t" l="l"/>
            <a:pathLst>
              <a:path h="8376356" w="9865087">
                <a:moveTo>
                  <a:pt x="9865087" y="8376355"/>
                </a:moveTo>
                <a:lnTo>
                  <a:pt x="0" y="8376355"/>
                </a:lnTo>
                <a:lnTo>
                  <a:pt x="0" y="0"/>
                </a:lnTo>
                <a:lnTo>
                  <a:pt x="9865087" y="0"/>
                </a:lnTo>
                <a:lnTo>
                  <a:pt x="9865087" y="83763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5245" y="2705479"/>
            <a:ext cx="5095948" cy="5095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C5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73565" y="2378069"/>
            <a:ext cx="4047156" cy="5690201"/>
          </a:xfrm>
          <a:custGeom>
            <a:avLst/>
            <a:gdLst/>
            <a:ahLst/>
            <a:cxnLst/>
            <a:rect r="r" b="b" t="t" l="l"/>
            <a:pathLst>
              <a:path h="5690201" w="4047156">
                <a:moveTo>
                  <a:pt x="0" y="0"/>
                </a:moveTo>
                <a:lnTo>
                  <a:pt x="4047155" y="0"/>
                </a:lnTo>
                <a:lnTo>
                  <a:pt x="4047155" y="5690202"/>
                </a:lnTo>
                <a:lnTo>
                  <a:pt x="0" y="5690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28088" y="-2680637"/>
            <a:ext cx="9865087" cy="8376356"/>
          </a:xfrm>
          <a:custGeom>
            <a:avLst/>
            <a:gdLst/>
            <a:ahLst/>
            <a:cxnLst/>
            <a:rect r="r" b="b" t="t" l="l"/>
            <a:pathLst>
              <a:path h="8376356" w="9865087">
                <a:moveTo>
                  <a:pt x="0" y="0"/>
                </a:moveTo>
                <a:lnTo>
                  <a:pt x="9865087" y="0"/>
                </a:lnTo>
                <a:lnTo>
                  <a:pt x="9865087" y="8376355"/>
                </a:lnTo>
                <a:lnTo>
                  <a:pt x="0" y="8376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65297" y="3860647"/>
            <a:ext cx="1003865" cy="1003865"/>
          </a:xfrm>
          <a:custGeom>
            <a:avLst/>
            <a:gdLst/>
            <a:ahLst/>
            <a:cxnLst/>
            <a:rect r="r" b="b" t="t" l="l"/>
            <a:pathLst>
              <a:path h="1003865" w="1003865">
                <a:moveTo>
                  <a:pt x="0" y="0"/>
                </a:moveTo>
                <a:lnTo>
                  <a:pt x="1003864" y="0"/>
                </a:lnTo>
                <a:lnTo>
                  <a:pt x="1003864" y="1003865"/>
                </a:lnTo>
                <a:lnTo>
                  <a:pt x="0" y="10038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32684" y="5330495"/>
            <a:ext cx="1036477" cy="1181171"/>
          </a:xfrm>
          <a:custGeom>
            <a:avLst/>
            <a:gdLst/>
            <a:ahLst/>
            <a:cxnLst/>
            <a:rect r="r" b="b" t="t" l="l"/>
            <a:pathLst>
              <a:path h="1181171" w="1036477">
                <a:moveTo>
                  <a:pt x="0" y="0"/>
                </a:moveTo>
                <a:lnTo>
                  <a:pt x="1036477" y="0"/>
                </a:lnTo>
                <a:lnTo>
                  <a:pt x="1036477" y="1181171"/>
                </a:lnTo>
                <a:lnTo>
                  <a:pt x="0" y="11811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65354" y="7070007"/>
            <a:ext cx="771137" cy="838746"/>
          </a:xfrm>
          <a:custGeom>
            <a:avLst/>
            <a:gdLst/>
            <a:ahLst/>
            <a:cxnLst/>
            <a:rect r="r" b="b" t="t" l="l"/>
            <a:pathLst>
              <a:path h="838746" w="771137">
                <a:moveTo>
                  <a:pt x="0" y="0"/>
                </a:moveTo>
                <a:lnTo>
                  <a:pt x="771137" y="0"/>
                </a:lnTo>
                <a:lnTo>
                  <a:pt x="771137" y="838746"/>
                </a:lnTo>
                <a:lnTo>
                  <a:pt x="0" y="8387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75414" y="2636254"/>
            <a:ext cx="17505347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b="true" sz="5000" spc="43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CONTEXTO Y MERCADO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21518" y="3953004"/>
            <a:ext cx="610197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POCAS APPS CONSIDERAN DIABETES TIPO 2 Y CONTINUIDAD DE DATOS SIN SENSOR.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21518" y="5511506"/>
            <a:ext cx="610197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MILLONES DE USUARIOS POTENCIALES DESATENDIDOS.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21518" y="7070007"/>
            <a:ext cx="610197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PACIENTES CON DIABETES TIPO 1 Y TIPO 2, QUE REQUIEREN MONITOREO CONFIABLE.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1429709" cy="41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4554" y="3163414"/>
            <a:ext cx="6727711" cy="1044284"/>
            <a:chOff x="0" y="0"/>
            <a:chExt cx="2790328" cy="4331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0329" cy="433118"/>
            </a:xfrm>
            <a:custGeom>
              <a:avLst/>
              <a:gdLst/>
              <a:ahLst/>
              <a:cxnLst/>
              <a:rect r="r" b="b" t="t" l="l"/>
              <a:pathLst>
                <a:path h="433118" w="2790329">
                  <a:moveTo>
                    <a:pt x="0" y="0"/>
                  </a:moveTo>
                  <a:lnTo>
                    <a:pt x="2790329" y="0"/>
                  </a:lnTo>
                  <a:lnTo>
                    <a:pt x="2790329" y="433118"/>
                  </a:lnTo>
                  <a:lnTo>
                    <a:pt x="0" y="4331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04554" y="4632058"/>
            <a:ext cx="6727711" cy="1044284"/>
            <a:chOff x="0" y="0"/>
            <a:chExt cx="2790328" cy="4331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0329" cy="433118"/>
            </a:xfrm>
            <a:custGeom>
              <a:avLst/>
              <a:gdLst/>
              <a:ahLst/>
              <a:cxnLst/>
              <a:rect r="r" b="b" t="t" l="l"/>
              <a:pathLst>
                <a:path h="433118" w="2790329">
                  <a:moveTo>
                    <a:pt x="0" y="0"/>
                  </a:moveTo>
                  <a:lnTo>
                    <a:pt x="2790329" y="0"/>
                  </a:lnTo>
                  <a:lnTo>
                    <a:pt x="2790329" y="433118"/>
                  </a:lnTo>
                  <a:lnTo>
                    <a:pt x="0" y="4331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554" y="6135295"/>
            <a:ext cx="6727711" cy="1044284"/>
            <a:chOff x="0" y="0"/>
            <a:chExt cx="2790328" cy="4331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0329" cy="433118"/>
            </a:xfrm>
            <a:custGeom>
              <a:avLst/>
              <a:gdLst/>
              <a:ahLst/>
              <a:cxnLst/>
              <a:rect r="r" b="b" t="t" l="l"/>
              <a:pathLst>
                <a:path h="433118" w="2790329">
                  <a:moveTo>
                    <a:pt x="0" y="0"/>
                  </a:moveTo>
                  <a:lnTo>
                    <a:pt x="2790329" y="0"/>
                  </a:lnTo>
                  <a:lnTo>
                    <a:pt x="2790329" y="433118"/>
                  </a:lnTo>
                  <a:lnTo>
                    <a:pt x="0" y="4331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04554" y="7621235"/>
            <a:ext cx="6727711" cy="1044284"/>
            <a:chOff x="0" y="0"/>
            <a:chExt cx="2790328" cy="4331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0329" cy="433118"/>
            </a:xfrm>
            <a:custGeom>
              <a:avLst/>
              <a:gdLst/>
              <a:ahLst/>
              <a:cxnLst/>
              <a:rect r="r" b="b" t="t" l="l"/>
              <a:pathLst>
                <a:path h="433118" w="2790329">
                  <a:moveTo>
                    <a:pt x="0" y="0"/>
                  </a:moveTo>
                  <a:lnTo>
                    <a:pt x="2790329" y="0"/>
                  </a:lnTo>
                  <a:lnTo>
                    <a:pt x="2790329" y="433118"/>
                  </a:lnTo>
                  <a:lnTo>
                    <a:pt x="0" y="4331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true" rot="1946506">
            <a:off x="10527594" y="-2710154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662661" y="3085461"/>
            <a:ext cx="1200190" cy="120019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662661" y="4571401"/>
            <a:ext cx="1200190" cy="120019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35681" y="6057341"/>
            <a:ext cx="1200190" cy="120019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635681" y="7543281"/>
            <a:ext cx="1200190" cy="120019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964387" y="4911643"/>
            <a:ext cx="596739" cy="519706"/>
          </a:xfrm>
          <a:custGeom>
            <a:avLst/>
            <a:gdLst/>
            <a:ahLst/>
            <a:cxnLst/>
            <a:rect r="r" b="b" t="t" l="l"/>
            <a:pathLst>
              <a:path h="519706" w="596739">
                <a:moveTo>
                  <a:pt x="0" y="0"/>
                </a:moveTo>
                <a:lnTo>
                  <a:pt x="596739" y="0"/>
                </a:lnTo>
                <a:lnTo>
                  <a:pt x="596739" y="519706"/>
                </a:lnTo>
                <a:lnTo>
                  <a:pt x="0" y="519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884729" y="6344180"/>
            <a:ext cx="676397" cy="626513"/>
          </a:xfrm>
          <a:custGeom>
            <a:avLst/>
            <a:gdLst/>
            <a:ahLst/>
            <a:cxnLst/>
            <a:rect r="r" b="b" t="t" l="l"/>
            <a:pathLst>
              <a:path h="626513" w="676397">
                <a:moveTo>
                  <a:pt x="0" y="0"/>
                </a:moveTo>
                <a:lnTo>
                  <a:pt x="676397" y="0"/>
                </a:lnTo>
                <a:lnTo>
                  <a:pt x="676397" y="626513"/>
                </a:lnTo>
                <a:lnTo>
                  <a:pt x="0" y="6265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889314" y="3300621"/>
            <a:ext cx="746886" cy="746886"/>
          </a:xfrm>
          <a:custGeom>
            <a:avLst/>
            <a:gdLst/>
            <a:ahLst/>
            <a:cxnLst/>
            <a:rect r="r" b="b" t="t" l="l"/>
            <a:pathLst>
              <a:path h="746886" w="746886">
                <a:moveTo>
                  <a:pt x="0" y="0"/>
                </a:moveTo>
                <a:lnTo>
                  <a:pt x="746885" y="0"/>
                </a:lnTo>
                <a:lnTo>
                  <a:pt x="746885" y="746885"/>
                </a:lnTo>
                <a:lnTo>
                  <a:pt x="0" y="746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662661" y="972132"/>
            <a:ext cx="8136415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0"/>
              </a:lnSpc>
            </a:pPr>
            <a:r>
              <a:rPr lang="en-US" b="true" sz="5000" spc="43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SOLUCIÓN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16389" y="7979678"/>
            <a:ext cx="81614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Acceder a un módulo educativo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847192" y="7781968"/>
            <a:ext cx="751470" cy="738320"/>
          </a:xfrm>
          <a:custGeom>
            <a:avLst/>
            <a:gdLst/>
            <a:ahLst/>
            <a:cxnLst/>
            <a:rect r="r" b="b" t="t" l="l"/>
            <a:pathLst>
              <a:path h="738320" w="751470">
                <a:moveTo>
                  <a:pt x="0" y="0"/>
                </a:moveTo>
                <a:lnTo>
                  <a:pt x="751471" y="0"/>
                </a:lnTo>
                <a:lnTo>
                  <a:pt x="751471" y="738320"/>
                </a:lnTo>
                <a:lnTo>
                  <a:pt x="0" y="7383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598636">
            <a:off x="9276440" y="252971"/>
            <a:ext cx="8253196" cy="9837052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2662661" y="2342511"/>
            <a:ext cx="706281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Desarrollar una aplicación móvil que permita: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16389" y="3323606"/>
            <a:ext cx="591663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Registrar glucosa manual o automáticamente desde sensor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171300" y="4962525"/>
            <a:ext cx="601587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Enviar alertas a usuario y contacto de apoyo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61477" y="6476461"/>
            <a:ext cx="61257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Visualizar gráficos e historial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47625"/>
              <a:ext cx="1429709" cy="41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87535" y="2993120"/>
            <a:ext cx="4993978" cy="40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GENERAL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790597" y="3694126"/>
            <a:ext cx="6660574" cy="883915"/>
            <a:chOff x="0" y="0"/>
            <a:chExt cx="4219254" cy="5599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19254" cy="559931"/>
            </a:xfrm>
            <a:custGeom>
              <a:avLst/>
              <a:gdLst/>
              <a:ahLst/>
              <a:cxnLst/>
              <a:rect r="r" b="b" t="t" l="l"/>
              <a:pathLst>
                <a:path h="559931" w="4219254">
                  <a:moveTo>
                    <a:pt x="0" y="0"/>
                  </a:moveTo>
                  <a:lnTo>
                    <a:pt x="4219254" y="0"/>
                  </a:lnTo>
                  <a:lnTo>
                    <a:pt x="4219254" y="559931"/>
                  </a:lnTo>
                  <a:lnTo>
                    <a:pt x="0" y="5599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90597" y="2608276"/>
            <a:ext cx="6660574" cy="883915"/>
            <a:chOff x="0" y="0"/>
            <a:chExt cx="4219254" cy="5599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19254" cy="559931"/>
            </a:xfrm>
            <a:custGeom>
              <a:avLst/>
              <a:gdLst/>
              <a:ahLst/>
              <a:cxnLst/>
              <a:rect r="r" b="b" t="t" l="l"/>
              <a:pathLst>
                <a:path h="559931" w="4219254">
                  <a:moveTo>
                    <a:pt x="0" y="0"/>
                  </a:moveTo>
                  <a:lnTo>
                    <a:pt x="4219254" y="0"/>
                  </a:lnTo>
                  <a:lnTo>
                    <a:pt x="4219254" y="559931"/>
                  </a:lnTo>
                  <a:lnTo>
                    <a:pt x="0" y="5599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true" rot="7334891">
            <a:off x="12653624" y="4377734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2"/>
                </a:moveTo>
                <a:lnTo>
                  <a:pt x="11864694" y="8974022"/>
                </a:lnTo>
                <a:lnTo>
                  <a:pt x="11864694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3027667">
            <a:off x="-5787727" y="-3836197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87535" y="3707415"/>
            <a:ext cx="5772909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Desarrollar una aplicación móvil accesible, segura y confiable para el monitoreo de glucosa, con alertas personalizadas y acompañamiento, utilizando la metodología Extreme Programming (XP) para asegurar calidad y entregas iterativas.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63625"/>
            <a:ext cx="16230600" cy="116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b="true" sz="4999" spc="42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OBJETIVOS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00723" y="2660672"/>
            <a:ext cx="785804" cy="785804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495833" y="2732477"/>
            <a:ext cx="5629343" cy="7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3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Habilitar el registro manual y automático de glucosa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5547" y="2864096"/>
            <a:ext cx="816155" cy="36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US" sz="235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00723" y="3734394"/>
            <a:ext cx="785804" cy="785804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495833" y="3874565"/>
            <a:ext cx="6445981" cy="37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Implementar alertas críticas personalizadas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5547" y="3949946"/>
            <a:ext cx="816155" cy="36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US" sz="235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743745" y="4778066"/>
            <a:ext cx="6707426" cy="883915"/>
            <a:chOff x="0" y="0"/>
            <a:chExt cx="4248933" cy="5599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48933" cy="559931"/>
            </a:xfrm>
            <a:custGeom>
              <a:avLst/>
              <a:gdLst/>
              <a:ahLst/>
              <a:cxnLst/>
              <a:rect r="r" b="b" t="t" l="l"/>
              <a:pathLst>
                <a:path h="559931" w="4248933">
                  <a:moveTo>
                    <a:pt x="0" y="0"/>
                  </a:moveTo>
                  <a:lnTo>
                    <a:pt x="4248933" y="0"/>
                  </a:lnTo>
                  <a:lnTo>
                    <a:pt x="4248933" y="559931"/>
                  </a:lnTo>
                  <a:lnTo>
                    <a:pt x="0" y="5599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377034" y="4958505"/>
            <a:ext cx="7593480" cy="37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Incorporar un rol de contacto de apoyo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50354" y="4827121"/>
            <a:ext cx="785804" cy="785804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81548" y="5033885"/>
            <a:ext cx="723414" cy="36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US" sz="235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743745" y="5862006"/>
            <a:ext cx="6707426" cy="883915"/>
            <a:chOff x="0" y="0"/>
            <a:chExt cx="4248933" cy="5599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48933" cy="559931"/>
            </a:xfrm>
            <a:custGeom>
              <a:avLst/>
              <a:gdLst/>
              <a:ahLst/>
              <a:cxnLst/>
              <a:rect r="r" b="b" t="t" l="l"/>
              <a:pathLst>
                <a:path h="559931" w="4248933">
                  <a:moveTo>
                    <a:pt x="0" y="0"/>
                  </a:moveTo>
                  <a:lnTo>
                    <a:pt x="4248933" y="0"/>
                  </a:lnTo>
                  <a:lnTo>
                    <a:pt x="4248933" y="559931"/>
                  </a:lnTo>
                  <a:lnTo>
                    <a:pt x="0" y="5599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377034" y="6042445"/>
            <a:ext cx="5900262" cy="37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Generar gráficos e historial de registros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50354" y="5911061"/>
            <a:ext cx="785804" cy="785804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481548" y="6117825"/>
            <a:ext cx="723414" cy="36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US" sz="235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743745" y="6945946"/>
            <a:ext cx="6707426" cy="883915"/>
            <a:chOff x="0" y="0"/>
            <a:chExt cx="4248933" cy="5599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48933" cy="559931"/>
            </a:xfrm>
            <a:custGeom>
              <a:avLst/>
              <a:gdLst/>
              <a:ahLst/>
              <a:cxnLst/>
              <a:rect r="r" b="b" t="t" l="l"/>
              <a:pathLst>
                <a:path h="559931" w="4248933">
                  <a:moveTo>
                    <a:pt x="0" y="0"/>
                  </a:moveTo>
                  <a:lnTo>
                    <a:pt x="4248933" y="0"/>
                  </a:lnTo>
                  <a:lnTo>
                    <a:pt x="4248933" y="559931"/>
                  </a:lnTo>
                  <a:lnTo>
                    <a:pt x="0" y="5599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377034" y="7126385"/>
            <a:ext cx="6190492" cy="37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Entregar material educativo validado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50354" y="6995001"/>
            <a:ext cx="785804" cy="785804"/>
            <a:chOff x="0" y="0"/>
            <a:chExt cx="6350000" cy="635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481548" y="7201765"/>
            <a:ext cx="723414" cy="36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US" sz="235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05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743745" y="8029885"/>
            <a:ext cx="6707426" cy="883915"/>
            <a:chOff x="0" y="0"/>
            <a:chExt cx="4248933" cy="5599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48933" cy="559931"/>
            </a:xfrm>
            <a:custGeom>
              <a:avLst/>
              <a:gdLst/>
              <a:ahLst/>
              <a:cxnLst/>
              <a:rect r="r" b="b" t="t" l="l"/>
              <a:pathLst>
                <a:path h="559931" w="4248933">
                  <a:moveTo>
                    <a:pt x="0" y="0"/>
                  </a:moveTo>
                  <a:lnTo>
                    <a:pt x="4248933" y="0"/>
                  </a:lnTo>
                  <a:lnTo>
                    <a:pt x="4248933" y="559931"/>
                  </a:lnTo>
                  <a:lnTo>
                    <a:pt x="0" y="5599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377034" y="8210324"/>
            <a:ext cx="5497165" cy="37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Asegurar privacidad y seguridad de datos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450354" y="8078941"/>
            <a:ext cx="785804" cy="785804"/>
            <a:chOff x="0" y="0"/>
            <a:chExt cx="6350000" cy="635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481548" y="8285705"/>
            <a:ext cx="723414" cy="36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US" sz="235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06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2740509" y="6480576"/>
            <a:ext cx="1405974" cy="1405974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743979" y="6480576"/>
            <a:ext cx="1405974" cy="1405974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747449" y="6480576"/>
            <a:ext cx="1405974" cy="1405974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6976162" y="6635047"/>
            <a:ext cx="948548" cy="1014490"/>
          </a:xfrm>
          <a:custGeom>
            <a:avLst/>
            <a:gdLst/>
            <a:ahLst/>
            <a:cxnLst/>
            <a:rect r="r" b="b" t="t" l="l"/>
            <a:pathLst>
              <a:path h="1014490" w="948548">
                <a:moveTo>
                  <a:pt x="0" y="0"/>
                </a:moveTo>
                <a:lnTo>
                  <a:pt x="948548" y="0"/>
                </a:lnTo>
                <a:lnTo>
                  <a:pt x="948548" y="1014490"/>
                </a:lnTo>
                <a:lnTo>
                  <a:pt x="0" y="1014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4972692" y="6666680"/>
            <a:ext cx="948548" cy="931949"/>
          </a:xfrm>
          <a:custGeom>
            <a:avLst/>
            <a:gdLst/>
            <a:ahLst/>
            <a:cxnLst/>
            <a:rect r="r" b="b" t="t" l="l"/>
            <a:pathLst>
              <a:path h="931949" w="948548">
                <a:moveTo>
                  <a:pt x="0" y="0"/>
                </a:moveTo>
                <a:lnTo>
                  <a:pt x="948548" y="0"/>
                </a:lnTo>
                <a:lnTo>
                  <a:pt x="948548" y="931949"/>
                </a:lnTo>
                <a:lnTo>
                  <a:pt x="0" y="9319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3183116" y="6666680"/>
            <a:ext cx="520759" cy="1033765"/>
          </a:xfrm>
          <a:custGeom>
            <a:avLst/>
            <a:gdLst/>
            <a:ahLst/>
            <a:cxnLst/>
            <a:rect r="r" b="b" t="t" l="l"/>
            <a:pathLst>
              <a:path h="1033765" w="520759">
                <a:moveTo>
                  <a:pt x="0" y="0"/>
                </a:moveTo>
                <a:lnTo>
                  <a:pt x="520760" y="0"/>
                </a:lnTo>
                <a:lnTo>
                  <a:pt x="520760" y="1033765"/>
                </a:lnTo>
                <a:lnTo>
                  <a:pt x="0" y="10337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2846820" y="6891356"/>
            <a:ext cx="1187865" cy="501873"/>
          </a:xfrm>
          <a:custGeom>
            <a:avLst/>
            <a:gdLst/>
            <a:ahLst/>
            <a:cxnLst/>
            <a:rect r="r" b="b" t="t" l="l"/>
            <a:pathLst>
              <a:path h="501873" w="1187865">
                <a:moveTo>
                  <a:pt x="0" y="0"/>
                </a:moveTo>
                <a:lnTo>
                  <a:pt x="1187865" y="0"/>
                </a:lnTo>
                <a:lnTo>
                  <a:pt x="1187865" y="501873"/>
                </a:lnTo>
                <a:lnTo>
                  <a:pt x="0" y="501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2516010" y="7935006"/>
            <a:ext cx="1854971" cy="2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1"/>
              </a:lnSpc>
            </a:pPr>
            <a:r>
              <a:rPr lang="en-US" sz="18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MONITOREO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519480" y="7935006"/>
            <a:ext cx="1854971" cy="2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1"/>
              </a:lnSpc>
            </a:pPr>
            <a:r>
              <a:rPr lang="en-US" sz="18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EDUCATIVA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522950" y="7935006"/>
            <a:ext cx="1854971" cy="2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1"/>
              </a:lnSpc>
            </a:pPr>
            <a:r>
              <a:rPr lang="en-US" sz="18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APOYO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61" id="61"/>
            <p:cNvSpPr txBox="true"/>
            <p:nvPr/>
          </p:nvSpPr>
          <p:spPr>
            <a:xfrm rot="0">
              <a:off x="0" y="-47625"/>
              <a:ext cx="1429709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3777389">
            <a:off x="-4715913" y="-2046407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686390">
            <a:off x="10632895" y="3482352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98287" y="2579303"/>
            <a:ext cx="14815463" cy="6394560"/>
            <a:chOff x="0" y="0"/>
            <a:chExt cx="3902015" cy="1684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02015" cy="1684164"/>
            </a:xfrm>
            <a:custGeom>
              <a:avLst/>
              <a:gdLst/>
              <a:ahLst/>
              <a:cxnLst/>
              <a:rect r="r" b="b" t="t" l="l"/>
              <a:pathLst>
                <a:path h="1684164" w="3902015">
                  <a:moveTo>
                    <a:pt x="0" y="0"/>
                  </a:moveTo>
                  <a:lnTo>
                    <a:pt x="3902015" y="0"/>
                  </a:lnTo>
                  <a:lnTo>
                    <a:pt x="3902015" y="1684164"/>
                  </a:lnTo>
                  <a:lnTo>
                    <a:pt x="0" y="16841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902015" cy="1703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255816" y="2969406"/>
            <a:ext cx="633893" cy="488674"/>
          </a:xfrm>
          <a:custGeom>
            <a:avLst/>
            <a:gdLst/>
            <a:ahLst/>
            <a:cxnLst/>
            <a:rect r="r" b="b" t="t" l="l"/>
            <a:pathLst>
              <a:path h="488674" w="633893">
                <a:moveTo>
                  <a:pt x="0" y="0"/>
                </a:moveTo>
                <a:lnTo>
                  <a:pt x="633892" y="0"/>
                </a:lnTo>
                <a:lnTo>
                  <a:pt x="633892" y="488674"/>
                </a:lnTo>
                <a:lnTo>
                  <a:pt x="0" y="488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17188" y="2902662"/>
            <a:ext cx="622162" cy="622162"/>
          </a:xfrm>
          <a:custGeom>
            <a:avLst/>
            <a:gdLst/>
            <a:ahLst/>
            <a:cxnLst/>
            <a:rect r="r" b="b" t="t" l="l"/>
            <a:pathLst>
              <a:path h="622162" w="622162">
                <a:moveTo>
                  <a:pt x="0" y="0"/>
                </a:moveTo>
                <a:lnTo>
                  <a:pt x="622162" y="0"/>
                </a:lnTo>
                <a:lnTo>
                  <a:pt x="622162" y="622162"/>
                </a:lnTo>
                <a:lnTo>
                  <a:pt x="0" y="62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31272" y="3024375"/>
            <a:ext cx="4665641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Alcances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5830" y="2739937"/>
            <a:ext cx="4930931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Limitaciones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118923" y="3433389"/>
            <a:ext cx="6690340" cy="4820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Registro manual y automático de glucosa.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Configuración de umbrales personalizados.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Alertas y notificaciones en tiempo real.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Visualización gráfica con rangos de colores.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Rol de contacto de apoyo.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Módulo educativo y glosario.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Gestión de riesgos y control de costos.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Documentación técnica y manual de usuario.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7188" y="3932528"/>
            <a:ext cx="5779859" cy="360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Lectura automática desde sensor con una unica cuenta debido a falta de d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Dependencia de Firebase para notificaciones.</a:t>
            </a:r>
          </a:p>
          <a:p>
            <a:pPr algn="l" marL="518160" indent="-259080" lvl="1">
              <a:lnSpc>
                <a:spcPts val="482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No incluye integración con servicios de salud externos.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45421"/>
            <a:ext cx="16230600" cy="116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b="true" sz="4999" spc="42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ALCANCES Y LIMITACIONES</a:t>
            </a:r>
          </a:p>
        </p:txBody>
      </p:sp>
      <p:sp>
        <p:nvSpPr>
          <p:cNvPr name="AutoShape 14" id="14"/>
          <p:cNvSpPr/>
          <p:nvPr/>
        </p:nvSpPr>
        <p:spPr>
          <a:xfrm flipH="true">
            <a:off x="9144000" y="3622726"/>
            <a:ext cx="570" cy="4432527"/>
          </a:xfrm>
          <a:prstGeom prst="line">
            <a:avLst/>
          </a:prstGeom>
          <a:ln cap="flat" w="47625">
            <a:solidFill>
              <a:srgbClr val="EEED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1429709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58214" y="3935973"/>
            <a:ext cx="796484" cy="796484"/>
            <a:chOff x="0" y="0"/>
            <a:chExt cx="1061979" cy="106197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61979" cy="1061979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A3D6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1944" lIns="51944" bIns="51944" rIns="51944"/>
              <a:lstStyle/>
              <a:p>
                <a:pPr algn="ctr">
                  <a:lnSpc>
                    <a:spcPts val="304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31650" y="181796"/>
              <a:ext cx="632489" cy="632489"/>
            </a:xfrm>
            <a:custGeom>
              <a:avLst/>
              <a:gdLst/>
              <a:ahLst/>
              <a:cxnLst/>
              <a:rect r="r" b="b" t="t" l="l"/>
              <a:pathLst>
                <a:path h="632489" w="632489">
                  <a:moveTo>
                    <a:pt x="0" y="0"/>
                  </a:moveTo>
                  <a:lnTo>
                    <a:pt x="632489" y="0"/>
                  </a:lnTo>
                  <a:lnTo>
                    <a:pt x="632489" y="632489"/>
                  </a:lnTo>
                  <a:lnTo>
                    <a:pt x="0" y="632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-9101121">
            <a:off x="-2871620" y="3423461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96269" y="2638703"/>
            <a:ext cx="5364201" cy="5445890"/>
            <a:chOff x="0" y="0"/>
            <a:chExt cx="7152268" cy="72611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2268" cy="7261186"/>
            </a:xfrm>
            <a:custGeom>
              <a:avLst/>
              <a:gdLst/>
              <a:ahLst/>
              <a:cxnLst/>
              <a:rect r="r" b="b" t="t" l="l"/>
              <a:pathLst>
                <a:path h="7261186" w="7152268">
                  <a:moveTo>
                    <a:pt x="0" y="0"/>
                  </a:moveTo>
                  <a:lnTo>
                    <a:pt x="7152268" y="0"/>
                  </a:lnTo>
                  <a:lnTo>
                    <a:pt x="7152268" y="7261186"/>
                  </a:lnTo>
                  <a:lnTo>
                    <a:pt x="0" y="7261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46127" y="150489"/>
              <a:ext cx="2179841" cy="1738423"/>
            </a:xfrm>
            <a:custGeom>
              <a:avLst/>
              <a:gdLst/>
              <a:ahLst/>
              <a:cxnLst/>
              <a:rect r="r" b="b" t="t" l="l"/>
              <a:pathLst>
                <a:path h="1738423" w="2179841">
                  <a:moveTo>
                    <a:pt x="0" y="0"/>
                  </a:moveTo>
                  <a:lnTo>
                    <a:pt x="2179841" y="0"/>
                  </a:lnTo>
                  <a:lnTo>
                    <a:pt x="2179841" y="1738424"/>
                  </a:lnTo>
                  <a:lnTo>
                    <a:pt x="0" y="1738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58214" y="5813542"/>
            <a:ext cx="796484" cy="79648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5640" lIns="25640" bIns="25640" rIns="2564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58214" y="7686351"/>
            <a:ext cx="796484" cy="7964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5640" lIns="25640" bIns="25640" rIns="2564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214" y="4883708"/>
            <a:ext cx="796484" cy="7964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5640" lIns="25640" bIns="25640" rIns="2564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58214" y="6752326"/>
            <a:ext cx="796484" cy="79648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3D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5640" lIns="25640" bIns="25640" rIns="2564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304625" y="5030119"/>
            <a:ext cx="503661" cy="503661"/>
          </a:xfrm>
          <a:custGeom>
            <a:avLst/>
            <a:gdLst/>
            <a:ahLst/>
            <a:cxnLst/>
            <a:rect r="r" b="b" t="t" l="l"/>
            <a:pathLst>
              <a:path h="503661" w="503661">
                <a:moveTo>
                  <a:pt x="0" y="0"/>
                </a:moveTo>
                <a:lnTo>
                  <a:pt x="503661" y="0"/>
                </a:lnTo>
                <a:lnTo>
                  <a:pt x="503661" y="503661"/>
                </a:lnTo>
                <a:lnTo>
                  <a:pt x="0" y="5036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304625" y="5994389"/>
            <a:ext cx="503661" cy="493588"/>
          </a:xfrm>
          <a:custGeom>
            <a:avLst/>
            <a:gdLst/>
            <a:ahLst/>
            <a:cxnLst/>
            <a:rect r="r" b="b" t="t" l="l"/>
            <a:pathLst>
              <a:path h="493588" w="503661">
                <a:moveTo>
                  <a:pt x="0" y="0"/>
                </a:moveTo>
                <a:lnTo>
                  <a:pt x="503661" y="0"/>
                </a:lnTo>
                <a:lnTo>
                  <a:pt x="503661" y="493588"/>
                </a:lnTo>
                <a:lnTo>
                  <a:pt x="0" y="493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296945" y="6876726"/>
            <a:ext cx="511341" cy="534038"/>
          </a:xfrm>
          <a:custGeom>
            <a:avLst/>
            <a:gdLst/>
            <a:ahLst/>
            <a:cxnLst/>
            <a:rect r="r" b="b" t="t" l="l"/>
            <a:pathLst>
              <a:path h="534038" w="511341">
                <a:moveTo>
                  <a:pt x="0" y="0"/>
                </a:moveTo>
                <a:lnTo>
                  <a:pt x="511341" y="0"/>
                </a:lnTo>
                <a:lnTo>
                  <a:pt x="511341" y="534037"/>
                </a:lnTo>
                <a:lnTo>
                  <a:pt x="0" y="5340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304625" y="7910760"/>
            <a:ext cx="503661" cy="418039"/>
          </a:xfrm>
          <a:custGeom>
            <a:avLst/>
            <a:gdLst/>
            <a:ahLst/>
            <a:cxnLst/>
            <a:rect r="r" b="b" t="t" l="l"/>
            <a:pathLst>
              <a:path h="418039" w="503661">
                <a:moveTo>
                  <a:pt x="0" y="0"/>
                </a:moveTo>
                <a:lnTo>
                  <a:pt x="503661" y="0"/>
                </a:lnTo>
                <a:lnTo>
                  <a:pt x="503661" y="418039"/>
                </a:lnTo>
                <a:lnTo>
                  <a:pt x="0" y="4180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158214" y="1376924"/>
            <a:ext cx="10232519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0"/>
              </a:lnSpc>
            </a:pPr>
            <a:r>
              <a:rPr lang="en-US" b="true" sz="5000" spc="43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METODOLOGÍA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57394" y="4174386"/>
            <a:ext cx="13022926" cy="33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Ciclos cortos de desarrollo con entregas funcionales.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58214" y="2697723"/>
            <a:ext cx="764716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EL PROYECTO SE DESARROLLARÁ CON EXTREME PROGRAMMING (XP) DENTRO DE UN MARCO DE GESTIÓN SCRUM, LO Q</a:t>
            </a: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ue permitirá: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57394" y="5113170"/>
            <a:ext cx="13022926" cy="33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Retroalimentación constante.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57394" y="6051954"/>
            <a:ext cx="13022926" cy="33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Integración continua entre frontend y backend.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57394" y="7929522"/>
            <a:ext cx="13022926" cy="33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Backlog dinámico con historias priorizadas.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57394" y="6990738"/>
            <a:ext cx="13022926" cy="33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Pruebas permanentes para asegurar calidad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47625"/>
              <a:ext cx="1429709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732994">
            <a:off x="-3016284" y="-5885735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4" y="8974023"/>
                </a:lnTo>
                <a:lnTo>
                  <a:pt x="11864694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686390">
            <a:off x="10632895" y="3482352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13306"/>
            <a:ext cx="16230600" cy="116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b="true" sz="4999" spc="42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CRONOGRAMA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857633" y="1350423"/>
            <a:ext cx="12572734" cy="8495370"/>
          </a:xfrm>
          <a:custGeom>
            <a:avLst/>
            <a:gdLst/>
            <a:ahLst/>
            <a:cxnLst/>
            <a:rect r="r" b="b" t="t" l="l"/>
            <a:pathLst>
              <a:path h="8495370" w="12572734">
                <a:moveTo>
                  <a:pt x="0" y="0"/>
                </a:moveTo>
                <a:lnTo>
                  <a:pt x="12572734" y="0"/>
                </a:lnTo>
                <a:lnTo>
                  <a:pt x="12572734" y="8495370"/>
                </a:lnTo>
                <a:lnTo>
                  <a:pt x="0" y="84953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" t="-4088" r="-170" b="-333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429709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81656">
            <a:off x="-6379801" y="-742215"/>
            <a:ext cx="14817002" cy="11207042"/>
          </a:xfrm>
          <a:custGeom>
            <a:avLst/>
            <a:gdLst/>
            <a:ahLst/>
            <a:cxnLst/>
            <a:rect r="r" b="b" t="t" l="l"/>
            <a:pathLst>
              <a:path h="11207042" w="14817002">
                <a:moveTo>
                  <a:pt x="0" y="0"/>
                </a:moveTo>
                <a:lnTo>
                  <a:pt x="14817002" y="0"/>
                </a:lnTo>
                <a:lnTo>
                  <a:pt x="14817002" y="11207042"/>
                </a:lnTo>
                <a:lnTo>
                  <a:pt x="0" y="11207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0031" y="2465503"/>
            <a:ext cx="17527939" cy="6747685"/>
          </a:xfrm>
          <a:custGeom>
            <a:avLst/>
            <a:gdLst/>
            <a:ahLst/>
            <a:cxnLst/>
            <a:rect r="r" b="b" t="t" l="l"/>
            <a:pathLst>
              <a:path h="6747685" w="17527939">
                <a:moveTo>
                  <a:pt x="0" y="0"/>
                </a:moveTo>
                <a:lnTo>
                  <a:pt x="17527938" y="0"/>
                </a:lnTo>
                <a:lnTo>
                  <a:pt x="17527938" y="6747685"/>
                </a:lnTo>
                <a:lnTo>
                  <a:pt x="0" y="6747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98" t="-29010" r="-1894" b="-2319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2492" y="1492048"/>
            <a:ext cx="1518223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0"/>
              </a:lnSpc>
            </a:pPr>
            <a:r>
              <a:rPr lang="en-US" b="true" sz="5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DEL SISTEMA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1429709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52780">
            <a:off x="3306258" y="1161358"/>
            <a:ext cx="17462686" cy="13208140"/>
          </a:xfrm>
          <a:custGeom>
            <a:avLst/>
            <a:gdLst/>
            <a:ahLst/>
            <a:cxnLst/>
            <a:rect r="r" b="b" t="t" l="l"/>
            <a:pathLst>
              <a:path h="13208140" w="17462686">
                <a:moveTo>
                  <a:pt x="0" y="0"/>
                </a:moveTo>
                <a:lnTo>
                  <a:pt x="17462686" y="0"/>
                </a:lnTo>
                <a:lnTo>
                  <a:pt x="17462686" y="13208140"/>
                </a:lnTo>
                <a:lnTo>
                  <a:pt x="0" y="13208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4966" y="4431094"/>
            <a:ext cx="3670102" cy="143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b="true" sz="4999" spc="42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MODELO </a:t>
            </a:r>
          </a:p>
          <a:p>
            <a:pPr algn="just">
              <a:lnSpc>
                <a:spcPts val="5451"/>
              </a:lnSpc>
            </a:pPr>
            <a:r>
              <a:rPr lang="en-US" b="true" sz="4699" spc="404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 DATOS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30563" y="1028700"/>
            <a:ext cx="11339669" cy="8857577"/>
          </a:xfrm>
          <a:custGeom>
            <a:avLst/>
            <a:gdLst/>
            <a:ahLst/>
            <a:cxnLst/>
            <a:rect r="r" b="b" t="t" l="l"/>
            <a:pathLst>
              <a:path h="8857577" w="11339669">
                <a:moveTo>
                  <a:pt x="0" y="0"/>
                </a:moveTo>
                <a:lnTo>
                  <a:pt x="11339669" y="0"/>
                </a:lnTo>
                <a:lnTo>
                  <a:pt x="11339669" y="8857577"/>
                </a:lnTo>
                <a:lnTo>
                  <a:pt x="0" y="88575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32" r="0" b="-36883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1429709" cy="41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7867">
            <a:off x="-718388" y="-7487106"/>
            <a:ext cx="20682096" cy="15643185"/>
          </a:xfrm>
          <a:custGeom>
            <a:avLst/>
            <a:gdLst/>
            <a:ahLst/>
            <a:cxnLst/>
            <a:rect r="r" b="b" t="t" l="l"/>
            <a:pathLst>
              <a:path h="15643185" w="20682096">
                <a:moveTo>
                  <a:pt x="0" y="0"/>
                </a:moveTo>
                <a:lnTo>
                  <a:pt x="20682096" y="0"/>
                </a:lnTo>
                <a:lnTo>
                  <a:pt x="20682096" y="15643186"/>
                </a:lnTo>
                <a:lnTo>
                  <a:pt x="0" y="1564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53909" y="2924289"/>
            <a:ext cx="4004039" cy="3069634"/>
            <a:chOff x="0" y="0"/>
            <a:chExt cx="1054562" cy="8084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4562" cy="808463"/>
            </a:xfrm>
            <a:custGeom>
              <a:avLst/>
              <a:gdLst/>
              <a:ahLst/>
              <a:cxnLst/>
              <a:rect r="r" b="b" t="t" l="l"/>
              <a:pathLst>
                <a:path h="808463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808463"/>
                  </a:lnTo>
                  <a:lnTo>
                    <a:pt x="0" y="8084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054562" cy="827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4299" y="2924289"/>
            <a:ext cx="4004039" cy="3069634"/>
            <a:chOff x="0" y="0"/>
            <a:chExt cx="1054562" cy="8084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4562" cy="808463"/>
            </a:xfrm>
            <a:custGeom>
              <a:avLst/>
              <a:gdLst/>
              <a:ahLst/>
              <a:cxnLst/>
              <a:rect r="r" b="b" t="t" l="l"/>
              <a:pathLst>
                <a:path h="808463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808463"/>
                  </a:lnTo>
                  <a:lnTo>
                    <a:pt x="0" y="8084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054562" cy="827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96013" y="2924289"/>
            <a:ext cx="4004039" cy="3069634"/>
            <a:chOff x="0" y="0"/>
            <a:chExt cx="1054562" cy="8084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4562" cy="808463"/>
            </a:xfrm>
            <a:custGeom>
              <a:avLst/>
              <a:gdLst/>
              <a:ahLst/>
              <a:cxnLst/>
              <a:rect r="r" b="b" t="t" l="l"/>
              <a:pathLst>
                <a:path h="808463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808463"/>
                  </a:lnTo>
                  <a:lnTo>
                    <a:pt x="0" y="8084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54562" cy="827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53909" y="6701454"/>
            <a:ext cx="4004039" cy="3034200"/>
            <a:chOff x="0" y="0"/>
            <a:chExt cx="1054562" cy="7991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4562" cy="799131"/>
            </a:xfrm>
            <a:custGeom>
              <a:avLst/>
              <a:gdLst/>
              <a:ahLst/>
              <a:cxnLst/>
              <a:rect r="r" b="b" t="t" l="l"/>
              <a:pathLst>
                <a:path h="799131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799131"/>
                  </a:lnTo>
                  <a:lnTo>
                    <a:pt x="0" y="7991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54562" cy="81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144542" y="4610763"/>
            <a:ext cx="1500515" cy="985971"/>
          </a:xfrm>
          <a:custGeom>
            <a:avLst/>
            <a:gdLst/>
            <a:ahLst/>
            <a:cxnLst/>
            <a:rect r="r" b="b" t="t" l="l"/>
            <a:pathLst>
              <a:path h="985971" w="1500515">
                <a:moveTo>
                  <a:pt x="0" y="0"/>
                </a:moveTo>
                <a:lnTo>
                  <a:pt x="1500515" y="0"/>
                </a:lnTo>
                <a:lnTo>
                  <a:pt x="1500515" y="985971"/>
                </a:lnTo>
                <a:lnTo>
                  <a:pt x="0" y="985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85207" y="4403486"/>
            <a:ext cx="1989330" cy="1217200"/>
          </a:xfrm>
          <a:custGeom>
            <a:avLst/>
            <a:gdLst/>
            <a:ahLst/>
            <a:cxnLst/>
            <a:rect r="r" b="b" t="t" l="l"/>
            <a:pathLst>
              <a:path h="1217200" w="1989330">
                <a:moveTo>
                  <a:pt x="0" y="0"/>
                </a:moveTo>
                <a:lnTo>
                  <a:pt x="1989331" y="0"/>
                </a:lnTo>
                <a:lnTo>
                  <a:pt x="1989331" y="1217201"/>
                </a:lnTo>
                <a:lnTo>
                  <a:pt x="0" y="1217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242922" y="8053515"/>
            <a:ext cx="3423096" cy="1268828"/>
          </a:xfrm>
          <a:custGeom>
            <a:avLst/>
            <a:gdLst/>
            <a:ahLst/>
            <a:cxnLst/>
            <a:rect r="r" b="b" t="t" l="l"/>
            <a:pathLst>
              <a:path h="1268828" w="3423096">
                <a:moveTo>
                  <a:pt x="0" y="0"/>
                </a:moveTo>
                <a:lnTo>
                  <a:pt x="3423096" y="0"/>
                </a:lnTo>
                <a:lnTo>
                  <a:pt x="3423096" y="1268827"/>
                </a:lnTo>
                <a:lnTo>
                  <a:pt x="0" y="1268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081781" y="4625155"/>
            <a:ext cx="2951510" cy="1701277"/>
          </a:xfrm>
          <a:custGeom>
            <a:avLst/>
            <a:gdLst/>
            <a:ahLst/>
            <a:cxnLst/>
            <a:rect r="r" b="b" t="t" l="l"/>
            <a:pathLst>
              <a:path h="1701277" w="2951510">
                <a:moveTo>
                  <a:pt x="0" y="0"/>
                </a:moveTo>
                <a:lnTo>
                  <a:pt x="2951510" y="0"/>
                </a:lnTo>
                <a:lnTo>
                  <a:pt x="2951510" y="1701277"/>
                </a:lnTo>
                <a:lnTo>
                  <a:pt x="0" y="17012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261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447402" y="3958427"/>
            <a:ext cx="2429456" cy="1257433"/>
          </a:xfrm>
          <a:custGeom>
            <a:avLst/>
            <a:gdLst/>
            <a:ahLst/>
            <a:cxnLst/>
            <a:rect r="r" b="b" t="t" l="l"/>
            <a:pathLst>
              <a:path h="1257433" w="2429456">
                <a:moveTo>
                  <a:pt x="0" y="0"/>
                </a:moveTo>
                <a:lnTo>
                  <a:pt x="2429456" y="0"/>
                </a:lnTo>
                <a:lnTo>
                  <a:pt x="2429456" y="1257433"/>
                </a:lnTo>
                <a:lnTo>
                  <a:pt x="0" y="12574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047754"/>
            <a:ext cx="16230600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b="true" sz="5000" spc="43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TECNOLOGÍAS UTILIZADAS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98121" y="6701454"/>
            <a:ext cx="4004039" cy="3033192"/>
            <a:chOff x="0" y="0"/>
            <a:chExt cx="1054562" cy="798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4562" cy="798865"/>
            </a:xfrm>
            <a:custGeom>
              <a:avLst/>
              <a:gdLst/>
              <a:ahLst/>
              <a:cxnLst/>
              <a:rect r="r" b="b" t="t" l="l"/>
              <a:pathLst>
                <a:path h="798865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798865"/>
                  </a:lnTo>
                  <a:lnTo>
                    <a:pt x="0" y="7988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054562" cy="81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758319" y="6702462"/>
            <a:ext cx="4004039" cy="3033192"/>
            <a:chOff x="0" y="0"/>
            <a:chExt cx="1054562" cy="7988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4562" cy="798865"/>
            </a:xfrm>
            <a:custGeom>
              <a:avLst/>
              <a:gdLst/>
              <a:ahLst/>
              <a:cxnLst/>
              <a:rect r="r" b="b" t="t" l="l"/>
              <a:pathLst>
                <a:path h="798865" w="1054562">
                  <a:moveTo>
                    <a:pt x="0" y="0"/>
                  </a:moveTo>
                  <a:lnTo>
                    <a:pt x="1054562" y="0"/>
                  </a:lnTo>
                  <a:lnTo>
                    <a:pt x="1054562" y="798865"/>
                  </a:lnTo>
                  <a:lnTo>
                    <a:pt x="0" y="7988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54562" cy="81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8"/>
                </a:lnSpc>
              </a:pPr>
            </a:p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235091" y="8094109"/>
            <a:ext cx="1755551" cy="1434477"/>
          </a:xfrm>
          <a:custGeom>
            <a:avLst/>
            <a:gdLst/>
            <a:ahLst/>
            <a:cxnLst/>
            <a:rect r="r" b="b" t="t" l="l"/>
            <a:pathLst>
              <a:path h="1434477" w="1755551">
                <a:moveTo>
                  <a:pt x="0" y="0"/>
                </a:moveTo>
                <a:lnTo>
                  <a:pt x="1755551" y="0"/>
                </a:lnTo>
                <a:lnTo>
                  <a:pt x="1755551" y="1434477"/>
                </a:lnTo>
                <a:lnTo>
                  <a:pt x="0" y="14344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598934" y="8306957"/>
            <a:ext cx="1008980" cy="1010797"/>
          </a:xfrm>
          <a:custGeom>
            <a:avLst/>
            <a:gdLst/>
            <a:ahLst/>
            <a:cxnLst/>
            <a:rect r="r" b="b" t="t" l="l"/>
            <a:pathLst>
              <a:path h="1010797" w="1008980">
                <a:moveTo>
                  <a:pt x="0" y="0"/>
                </a:moveTo>
                <a:lnTo>
                  <a:pt x="1008980" y="0"/>
                </a:lnTo>
                <a:lnTo>
                  <a:pt x="1008980" y="1010797"/>
                </a:lnTo>
                <a:lnTo>
                  <a:pt x="0" y="101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55459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833659" y="8404696"/>
            <a:ext cx="873004" cy="777384"/>
          </a:xfrm>
          <a:custGeom>
            <a:avLst/>
            <a:gdLst/>
            <a:ahLst/>
            <a:cxnLst/>
            <a:rect r="r" b="b" t="t" l="l"/>
            <a:pathLst>
              <a:path h="777384" w="873004">
                <a:moveTo>
                  <a:pt x="0" y="0"/>
                </a:moveTo>
                <a:lnTo>
                  <a:pt x="873004" y="0"/>
                </a:lnTo>
                <a:lnTo>
                  <a:pt x="873004" y="777383"/>
                </a:lnTo>
                <a:lnTo>
                  <a:pt x="0" y="7773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426" r="0" b="-4426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423418" y="4873774"/>
            <a:ext cx="1721124" cy="840392"/>
          </a:xfrm>
          <a:custGeom>
            <a:avLst/>
            <a:gdLst/>
            <a:ahLst/>
            <a:cxnLst/>
            <a:rect r="r" b="b" t="t" l="l"/>
            <a:pathLst>
              <a:path h="840392" w="1721124">
                <a:moveTo>
                  <a:pt x="0" y="0"/>
                </a:moveTo>
                <a:lnTo>
                  <a:pt x="1721124" y="0"/>
                </a:lnTo>
                <a:lnTo>
                  <a:pt x="1721124" y="840393"/>
                </a:lnTo>
                <a:lnTo>
                  <a:pt x="0" y="8403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405334" y="2808917"/>
            <a:ext cx="3378255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66801" y="3431689"/>
            <a:ext cx="3378255" cy="133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Native (iOS y Android)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46621" y="3303729"/>
            <a:ext cx="4004039" cy="178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Node.js con Express.js 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3071211" y="3303729"/>
            <a:ext cx="3378255" cy="88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Firebase 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MySQL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87763" y="7314257"/>
            <a:ext cx="3378255" cy="43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407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 (GitHub)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45184" y="2758817"/>
            <a:ext cx="3206914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071211" y="2758817"/>
            <a:ext cx="3253644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7763" y="6535982"/>
            <a:ext cx="3697008" cy="65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 VERSIONES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649546" y="6535982"/>
            <a:ext cx="3378255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INTEGRACIONES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36931" y="7158753"/>
            <a:ext cx="3691147" cy="88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Sensores de glucosa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Notificaciones push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209744" y="6536990"/>
            <a:ext cx="3378255" cy="3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340" spc="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DOCUMENTACIÓN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71211" y="7159762"/>
            <a:ext cx="3378255" cy="133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Jira </a:t>
            </a:r>
          </a:p>
          <a:p>
            <a:pPr algn="l" marL="518157" indent="-259078" lvl="1">
              <a:lnSpc>
                <a:spcPts val="359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Confluence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-47625"/>
              <a:ext cx="1429709" cy="41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9624716">
            <a:off x="8900120" y="4246170"/>
            <a:ext cx="11864693" cy="8974022"/>
          </a:xfrm>
          <a:custGeom>
            <a:avLst/>
            <a:gdLst/>
            <a:ahLst/>
            <a:cxnLst/>
            <a:rect r="r" b="b" t="t" l="l"/>
            <a:pathLst>
              <a:path h="8974022" w="11864693">
                <a:moveTo>
                  <a:pt x="11864693" y="8974022"/>
                </a:moveTo>
                <a:lnTo>
                  <a:pt x="0" y="8974022"/>
                </a:lnTo>
                <a:lnTo>
                  <a:pt x="0" y="0"/>
                </a:lnTo>
                <a:lnTo>
                  <a:pt x="11864693" y="0"/>
                </a:lnTo>
                <a:lnTo>
                  <a:pt x="11864693" y="89740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3100" y="549859"/>
            <a:ext cx="957681" cy="957681"/>
          </a:xfrm>
          <a:custGeom>
            <a:avLst/>
            <a:gdLst/>
            <a:ahLst/>
            <a:cxnLst/>
            <a:rect r="r" b="b" t="t" l="l"/>
            <a:pathLst>
              <a:path h="957681" w="957681">
                <a:moveTo>
                  <a:pt x="0" y="0"/>
                </a:moveTo>
                <a:lnTo>
                  <a:pt x="957681" y="0"/>
                </a:lnTo>
                <a:lnTo>
                  <a:pt x="957681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98636">
            <a:off x="9896012" y="85802"/>
            <a:ext cx="8253196" cy="9837052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2504698" y="5591800"/>
            <a:ext cx="1847761" cy="184776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7700" y="5591800"/>
            <a:ext cx="1847761" cy="184776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70703" y="5591800"/>
            <a:ext cx="1847761" cy="18477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944" lIns="51944" bIns="51944" rIns="51944"/>
            <a:lstStyle/>
            <a:p>
              <a:pPr algn="ctr">
                <a:lnSpc>
                  <a:spcPts val="304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071282" y="5794809"/>
            <a:ext cx="1246602" cy="1333264"/>
          </a:xfrm>
          <a:custGeom>
            <a:avLst/>
            <a:gdLst/>
            <a:ahLst/>
            <a:cxnLst/>
            <a:rect r="r" b="b" t="t" l="l"/>
            <a:pathLst>
              <a:path h="1333264" w="1246602">
                <a:moveTo>
                  <a:pt x="0" y="0"/>
                </a:moveTo>
                <a:lnTo>
                  <a:pt x="1246602" y="0"/>
                </a:lnTo>
                <a:lnTo>
                  <a:pt x="1246602" y="1333264"/>
                </a:lnTo>
                <a:lnTo>
                  <a:pt x="0" y="13332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38279" y="5836382"/>
            <a:ext cx="1246602" cy="1224787"/>
          </a:xfrm>
          <a:custGeom>
            <a:avLst/>
            <a:gdLst/>
            <a:ahLst/>
            <a:cxnLst/>
            <a:rect r="r" b="b" t="t" l="l"/>
            <a:pathLst>
              <a:path h="1224787" w="1246602">
                <a:moveTo>
                  <a:pt x="0" y="0"/>
                </a:moveTo>
                <a:lnTo>
                  <a:pt x="1246603" y="0"/>
                </a:lnTo>
                <a:lnTo>
                  <a:pt x="1246603" y="1224787"/>
                </a:lnTo>
                <a:lnTo>
                  <a:pt x="0" y="122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086382" y="5836382"/>
            <a:ext cx="684393" cy="1358596"/>
          </a:xfrm>
          <a:custGeom>
            <a:avLst/>
            <a:gdLst/>
            <a:ahLst/>
            <a:cxnLst/>
            <a:rect r="r" b="b" t="t" l="l"/>
            <a:pathLst>
              <a:path h="1358596" w="684393">
                <a:moveTo>
                  <a:pt x="0" y="0"/>
                </a:moveTo>
                <a:lnTo>
                  <a:pt x="684392" y="0"/>
                </a:lnTo>
                <a:lnTo>
                  <a:pt x="684392" y="1358596"/>
                </a:lnTo>
                <a:lnTo>
                  <a:pt x="0" y="1358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644414" y="6131655"/>
            <a:ext cx="1561118" cy="659572"/>
          </a:xfrm>
          <a:custGeom>
            <a:avLst/>
            <a:gdLst/>
            <a:ahLst/>
            <a:cxnLst/>
            <a:rect r="r" b="b" t="t" l="l"/>
            <a:pathLst>
              <a:path h="659572" w="1561118">
                <a:moveTo>
                  <a:pt x="0" y="0"/>
                </a:moveTo>
                <a:lnTo>
                  <a:pt x="1561118" y="0"/>
                </a:lnTo>
                <a:lnTo>
                  <a:pt x="1561118" y="659572"/>
                </a:lnTo>
                <a:lnTo>
                  <a:pt x="0" y="65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733156" y="706977"/>
            <a:ext cx="1725773" cy="643445"/>
            <a:chOff x="0" y="0"/>
            <a:chExt cx="2301031" cy="85792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1939347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A3D6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83874"/>
              <a:ext cx="2301031" cy="57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7"/>
                </a:lnSpc>
                <a:spcBef>
                  <a:spcPct val="0"/>
                </a:spcBef>
              </a:pPr>
              <a:r>
                <a:rPr lang="en-US" b="true" sz="2498">
                  <a:solidFill>
                    <a:srgbClr val="00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56326" y="1584886"/>
            <a:ext cx="8136415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0"/>
              </a:lnSpc>
            </a:pPr>
            <a:r>
              <a:rPr lang="en-US" b="true" sz="5000" spc="43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OBJETIVO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59583" y="3134350"/>
            <a:ext cx="721050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DESARROLLAR UNA APLICACIÓN MÓVIL ACCESIBLE, SEGURA Y CONFIABLE PARA EL MONITOREO DE GLUCOSA, UTILIZANDO LA METODOLOGÍA XP PARA GARANTIZAR CALIDAD, FLEXIBILIDAD Y ENTR</a:t>
            </a: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egas iterativas</a:t>
            </a: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09657" y="7496710"/>
            <a:ext cx="243784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MONITOREO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42659" y="7496710"/>
            <a:ext cx="243784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75662" y="7496710"/>
            <a:ext cx="243784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APOYO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6731" y="4401852"/>
            <a:ext cx="11094538" cy="93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5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DEMOSTRACIÓN DEL SISTEMA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1429709" cy="41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6731" y="5038725"/>
            <a:ext cx="11094538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 MARIANO LEAL Y STEFFI RYSER </a:t>
            </a:r>
          </a:p>
          <a:p>
            <a:pPr algn="ctr">
              <a:lnSpc>
                <a:spcPts val="372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70232" y="675693"/>
            <a:ext cx="706014" cy="706014"/>
          </a:xfrm>
          <a:custGeom>
            <a:avLst/>
            <a:gdLst/>
            <a:ahLst/>
            <a:cxnLst/>
            <a:rect r="r" b="b" t="t" l="l"/>
            <a:pathLst>
              <a:path h="706014" w="706014">
                <a:moveTo>
                  <a:pt x="0" y="0"/>
                </a:moveTo>
                <a:lnTo>
                  <a:pt x="706014" y="0"/>
                </a:lnTo>
                <a:lnTo>
                  <a:pt x="706014" y="706014"/>
                </a:lnTo>
                <a:lnTo>
                  <a:pt x="0" y="70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41136" y="791522"/>
            <a:ext cx="1272260" cy="474355"/>
            <a:chOff x="0" y="0"/>
            <a:chExt cx="1696347" cy="6324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1429709" cy="41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GLUCO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0804"/>
              <a:ext cx="1696347" cy="42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  <a:spcBef>
                  <a:spcPct val="0"/>
                </a:spcBef>
              </a:pPr>
              <a:r>
                <a:rPr lang="en-US" b="true" sz="18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DAG6Bb0USqw</dc:identifier>
  <dcterms:modified xsi:type="dcterms:W3CDTF">2011-08-01T06:04:30Z</dcterms:modified>
  <cp:revision>1</cp:revision>
  <dc:title>presetacion final</dc:title>
</cp:coreProperties>
</file>